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56" r:id="rId11"/>
    <p:sldId id="257" r:id="rId12"/>
    <p:sldId id="266" r:id="rId13"/>
    <p:sldId id="271" r:id="rId14"/>
    <p:sldId id="272" r:id="rId15"/>
    <p:sldId id="270" r:id="rId16"/>
    <p:sldId id="269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7"/>
    <p:restoredTop sz="94737"/>
  </p:normalViewPr>
  <p:slideViewPr>
    <p:cSldViewPr snapToGrid="0" snapToObjects="1">
      <p:cViewPr varScale="1">
        <p:scale>
          <a:sx n="55" d="100"/>
          <a:sy n="55" d="100"/>
        </p:scale>
        <p:origin x="20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DD232-BADE-5643-B32F-9ECA3DAF1806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9F351-67EA-C44E-87AC-25C7A4D58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1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8D1A4-566E-6D4C-931B-4EC1E6A8FDB8}" type="datetimeFigureOut">
              <a:rPr lang="en-US" smtClean="0"/>
              <a:t>10/30/19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D6EB5-97B0-4A40-9ECA-3E4A5FF71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736" y="241787"/>
            <a:ext cx="7991110" cy="62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2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52678"/>
            <a:ext cx="10905066" cy="515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6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930" y="420878"/>
            <a:ext cx="65582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BIOLOGICAL SPECIES CONCEPT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620065" y="2278504"/>
            <a:ext cx="38252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charset="0"/>
              <a:buChar char="•"/>
            </a:pPr>
            <a:r>
              <a:rPr lang="en-US" sz="2400" dirty="0" smtClean="0"/>
              <a:t>CLOSED GENE POOL</a:t>
            </a:r>
          </a:p>
          <a:p>
            <a:pPr marL="285750" indent="-285750">
              <a:lnSpc>
                <a:spcPct val="200000"/>
              </a:lnSpc>
              <a:buFont typeface="Arial" charset="0"/>
              <a:buChar char="•"/>
            </a:pPr>
            <a:r>
              <a:rPr lang="en-US" sz="2400" dirty="0" smtClean="0"/>
              <a:t>REPRODUCTIVE ISOLATION</a:t>
            </a:r>
          </a:p>
          <a:p>
            <a:pPr marL="742950" lvl="1" indent="-285750">
              <a:lnSpc>
                <a:spcPct val="200000"/>
              </a:lnSpc>
              <a:buFont typeface="Arial" charset="0"/>
              <a:buChar char="•"/>
            </a:pPr>
            <a:r>
              <a:rPr lang="en-US" sz="2400" dirty="0" smtClean="0"/>
              <a:t>Hybridization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8220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930" y="420878"/>
            <a:ext cx="5566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REPRODUCTIVE BARRIERS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3618943" y="1645457"/>
            <a:ext cx="457702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800" dirty="0" smtClean="0"/>
              <a:t>PREZYGOTIC </a:t>
            </a:r>
          </a:p>
          <a:p>
            <a:r>
              <a:rPr lang="en-US" sz="2800" dirty="0" smtClean="0"/>
              <a:t>	Ecological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Temporal </a:t>
            </a:r>
          </a:p>
          <a:p>
            <a:r>
              <a:rPr lang="en-US" sz="2800" dirty="0" smtClean="0"/>
              <a:t>	Sexual/</a:t>
            </a:r>
            <a:r>
              <a:rPr lang="en-US" sz="2800" dirty="0" err="1" smtClean="0"/>
              <a:t>Behavioural</a:t>
            </a:r>
            <a:r>
              <a:rPr lang="en-US" sz="2800" dirty="0" smtClean="0"/>
              <a:t>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 </a:t>
            </a:r>
            <a:r>
              <a:rPr lang="en-US" sz="2800" dirty="0"/>
              <a:t>Mechanical </a:t>
            </a:r>
            <a:endParaRPr lang="en-US" sz="2800" dirty="0" smtClean="0"/>
          </a:p>
          <a:p>
            <a:r>
              <a:rPr lang="en-US" sz="2800" dirty="0" smtClean="0"/>
              <a:t>	</a:t>
            </a:r>
            <a:r>
              <a:rPr lang="en-US" sz="2800" dirty="0" err="1" smtClean="0"/>
              <a:t>Gametic</a:t>
            </a:r>
            <a:r>
              <a:rPr lang="en-US" sz="2800" dirty="0" smtClean="0"/>
              <a:t> incompatibility</a:t>
            </a:r>
          </a:p>
          <a:p>
            <a:r>
              <a:rPr lang="en-US" sz="2800" dirty="0" smtClean="0"/>
              <a:t>2. POSTZYGOTIC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Hybrid </a:t>
            </a:r>
            <a:r>
              <a:rPr lang="en-US" sz="2800" dirty="0" err="1" smtClean="0"/>
              <a:t>inviability</a:t>
            </a:r>
            <a:endParaRPr lang="en-US" sz="2800" dirty="0" smtClean="0"/>
          </a:p>
          <a:p>
            <a:r>
              <a:rPr lang="en-US" sz="2800" dirty="0"/>
              <a:t>	</a:t>
            </a:r>
            <a:r>
              <a:rPr lang="en-US" sz="2800" dirty="0" smtClean="0"/>
              <a:t>Hybrid sterility</a:t>
            </a:r>
          </a:p>
        </p:txBody>
      </p:sp>
    </p:spTree>
    <p:extLst>
      <p:ext uri="{BB962C8B-B14F-4D97-AF65-F5344CB8AC3E}">
        <p14:creationId xmlns:p14="http://schemas.microsoft.com/office/powerpoint/2010/main" val="199770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92369"/>
            <a:ext cx="26413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smtClean="0"/>
              <a:t>SPECIATION</a:t>
            </a:r>
            <a:endParaRPr lang="en-US" sz="4000"/>
          </a:p>
        </p:txBody>
      </p:sp>
      <p:sp>
        <p:nvSpPr>
          <p:cNvPr id="3" name="TextBox 2"/>
          <p:cNvSpPr txBox="1"/>
          <p:nvPr/>
        </p:nvSpPr>
        <p:spPr>
          <a:xfrm>
            <a:off x="1735015" y="1711569"/>
            <a:ext cx="2165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ALLOPATRIC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971692" y="1711569"/>
            <a:ext cx="2055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mtClean="0"/>
              <a:t>SYMPATRIC</a:t>
            </a:r>
            <a:endParaRPr lang="en-US" sz="3200"/>
          </a:p>
        </p:txBody>
      </p:sp>
      <p:sp>
        <p:nvSpPr>
          <p:cNvPr id="5" name="TextBox 4"/>
          <p:cNvSpPr txBox="1"/>
          <p:nvPr/>
        </p:nvSpPr>
        <p:spPr>
          <a:xfrm>
            <a:off x="422031" y="3235569"/>
            <a:ext cx="1510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DISPERSAL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250900" y="3235569"/>
            <a:ext cx="1712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VICARIANCE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281491" y="3235569"/>
            <a:ext cx="2393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CHROMOSOMAL SPECIATION</a:t>
            </a:r>
            <a:endParaRPr lang="en-US" sz="2400"/>
          </a:p>
        </p:txBody>
      </p:sp>
      <p:sp>
        <p:nvSpPr>
          <p:cNvPr id="8" name="TextBox 7"/>
          <p:cNvSpPr txBox="1"/>
          <p:nvPr/>
        </p:nvSpPr>
        <p:spPr>
          <a:xfrm>
            <a:off x="9969894" y="3282461"/>
            <a:ext cx="2063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DISRUPTIVE SELECTION</a:t>
            </a:r>
            <a:endParaRPr lang="en-US" sz="24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0" y="3742443"/>
            <a:ext cx="1758461" cy="29376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844" y="3742444"/>
            <a:ext cx="1537677" cy="29799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979" y="4060143"/>
            <a:ext cx="2797098" cy="266221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577" y="3996941"/>
            <a:ext cx="2660114" cy="290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7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693" y="351692"/>
            <a:ext cx="96954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smtClean="0"/>
              <a:t>DISADVANTAGES OF SEXUAL REPRODUCTION:</a:t>
            </a:r>
            <a:endParaRPr lang="en-US" sz="4000"/>
          </a:p>
        </p:txBody>
      </p:sp>
      <p:sp>
        <p:nvSpPr>
          <p:cNvPr id="3" name="TextBox 2"/>
          <p:cNvSpPr txBox="1"/>
          <p:nvPr/>
        </p:nvSpPr>
        <p:spPr>
          <a:xfrm>
            <a:off x="3516923" y="1641230"/>
            <a:ext cx="433695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3200" dirty="0" smtClean="0"/>
              <a:t>Costly to have males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3200" dirty="0" smtClean="0"/>
              <a:t>Risk of recombination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3200" dirty="0" smtClean="0"/>
              <a:t>Aggravation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3200" dirty="0" smtClean="0"/>
              <a:t>Disease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965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693" y="351692"/>
            <a:ext cx="90177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ADVANTAGES OF SEXUAL REPRODUCTION: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1500553" y="1430214"/>
            <a:ext cx="949785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3200" dirty="0" err="1" smtClean="0"/>
              <a:t>Evolvability</a:t>
            </a:r>
            <a:endParaRPr lang="en-US" sz="3200" dirty="0"/>
          </a:p>
          <a:p>
            <a:pPr>
              <a:lnSpc>
                <a:spcPct val="200000"/>
              </a:lnSpc>
            </a:pPr>
            <a:r>
              <a:rPr lang="en-US" sz="3200" dirty="0" smtClean="0"/>
              <a:t>	A) Lottery tickets: unpredictable environment </a:t>
            </a:r>
          </a:p>
          <a:p>
            <a:pPr>
              <a:lnSpc>
                <a:spcPct val="200000"/>
              </a:lnSpc>
            </a:pPr>
            <a:r>
              <a:rPr lang="en-US" sz="3200" dirty="0" smtClean="0"/>
              <a:t>	B) Red Queen </a:t>
            </a:r>
            <a:r>
              <a:rPr lang="en-US" sz="3200" dirty="0" err="1" smtClean="0"/>
              <a:t>Hypthothesis</a:t>
            </a:r>
            <a:r>
              <a:rPr lang="en-US" sz="3200" dirty="0" smtClean="0"/>
              <a:t>: think zebras and lions</a:t>
            </a:r>
          </a:p>
        </p:txBody>
      </p:sp>
    </p:spTree>
    <p:extLst>
      <p:ext uri="{BB962C8B-B14F-4D97-AF65-F5344CB8AC3E}">
        <p14:creationId xmlns:p14="http://schemas.microsoft.com/office/powerpoint/2010/main" val="151555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383" y="890953"/>
            <a:ext cx="9964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TRIVERS-WILLARD: when mothers are healthy, they produce more boys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03385" y="2665713"/>
            <a:ext cx="975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Intra-Sexual Selection: male-male competition</a:t>
            </a:r>
          </a:p>
          <a:p>
            <a:pPr marL="1028700" lvl="1" indent="-571500">
              <a:buFont typeface="Arial" charset="0"/>
              <a:buChar char="•"/>
            </a:pPr>
            <a:r>
              <a:rPr lang="en-US" sz="3600" dirty="0" smtClean="0"/>
              <a:t>strongest when male’s contribution is just sperm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703384" y="4830347"/>
            <a:ext cx="996461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Inter-Sexual Selection: female choice</a:t>
            </a:r>
          </a:p>
          <a:p>
            <a:pPr marL="1028700" lvl="1" indent="-571500">
              <a:buFont typeface="Arial" charset="0"/>
              <a:buChar char="•"/>
            </a:pPr>
            <a:r>
              <a:rPr lang="en-US" sz="3600" dirty="0" err="1" smtClean="0"/>
              <a:t>Fisherian</a:t>
            </a:r>
            <a:r>
              <a:rPr lang="en-US" sz="3600" dirty="0" smtClean="0"/>
              <a:t> Runaway model: positive feedback cycle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5626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345" y="-1"/>
            <a:ext cx="4326793" cy="66868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5138" y="422031"/>
            <a:ext cx="4088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mtClean="0"/>
              <a:t>KNOWLTON ET AL 1993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61950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04209" y="818481"/>
            <a:ext cx="1020330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-228600">
              <a:spcBef>
                <a:spcPts val="0"/>
              </a:spcBef>
              <a:spcAft>
                <a:spcPts val="0"/>
              </a:spcAft>
              <a:tabLst>
                <a:tab pos="139700" algn="l"/>
                <a:tab pos="228600" algn="l"/>
              </a:tabLst>
            </a:pPr>
            <a:r>
              <a:rPr lang="en-US" sz="2400" b="1" dirty="0" smtClean="0">
                <a:solidFill>
                  <a:srgbClr val="000000"/>
                </a:solidFill>
                <a:effectLst/>
                <a:latin typeface="Calibri" charset="0"/>
                <a:ea typeface="Calibri" charset="0"/>
                <a:cs typeface="Times" charset="0"/>
              </a:rPr>
              <a:t>Speciation Practice Question</a:t>
            </a:r>
            <a:endParaRPr lang="en-US" sz="2400" dirty="0" smtClean="0">
              <a:effectLst/>
              <a:latin typeface="Calibri" charset="0"/>
              <a:ea typeface="Calibri" charset="0"/>
              <a:cs typeface="Times New Roman" charset="0"/>
            </a:endParaRPr>
          </a:p>
          <a:p>
            <a:pPr marL="457200" marR="0">
              <a:spcBef>
                <a:spcPts val="0"/>
              </a:spcBef>
              <a:spcAft>
                <a:spcPts val="0"/>
              </a:spcAft>
              <a:tabLst>
                <a:tab pos="139700" algn="l"/>
                <a:tab pos="228600" algn="l"/>
              </a:tabLst>
            </a:pPr>
            <a:r>
              <a:rPr lang="en-US" sz="2400" dirty="0" smtClean="0">
                <a:solidFill>
                  <a:srgbClr val="000000"/>
                </a:solidFill>
                <a:effectLst/>
                <a:latin typeface="Calibri" charset="0"/>
                <a:ea typeface="Calibri" charset="0"/>
                <a:cs typeface="Times" charset="0"/>
              </a:rPr>
              <a:t> </a:t>
            </a:r>
            <a:endParaRPr lang="en-US" sz="2400" dirty="0" smtClean="0">
              <a:effectLst/>
              <a:latin typeface="Calibri" charset="0"/>
              <a:ea typeface="Calibri" charset="0"/>
              <a:cs typeface="Times New Roman" charset="0"/>
            </a:endParaRPr>
          </a:p>
          <a:p>
            <a:pPr marL="457200" marR="0">
              <a:spcBef>
                <a:spcPts val="0"/>
              </a:spcBef>
              <a:spcAft>
                <a:spcPts val="0"/>
              </a:spcAft>
              <a:tabLst>
                <a:tab pos="139700" algn="l"/>
                <a:tab pos="228600" algn="l"/>
              </a:tabLst>
            </a:pPr>
            <a:r>
              <a:rPr lang="en-US" sz="2400" dirty="0" smtClean="0">
                <a:solidFill>
                  <a:srgbClr val="000000"/>
                </a:solidFill>
                <a:effectLst/>
                <a:latin typeface="Calibri" charset="0"/>
                <a:ea typeface="Calibri" charset="0"/>
                <a:cs typeface="Times" charset="0"/>
              </a:rPr>
              <a:t>I am lucky enough to have a time machine.  I travel back 3 million years at a site in a volcanic region of central New Jersey and find a large, deep lake inhabited by two closely related species of fish.  When I travel back towards the present, I pause at the 2 million years ago mark, and find that volcanic activity has caused the lake to split into two, with the two new lakes completely isolated from each other.  At the 1 million years ago mark, I find that there has been more volcanism: one of the two lakes has split into three isolated lakes and the other into two isolated lakes.  Now, finally back in the present, the first thing I do (naturally) is sample the fish in each of the five lakes and sequence their DNA with a view to phylogenetic analysis.  Today I find a total of ten distinct species in the lake system.  </a:t>
            </a:r>
            <a:endParaRPr lang="en-US" sz="2400" dirty="0">
              <a:effectLst/>
              <a:latin typeface="Calibri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60" y="1110761"/>
            <a:ext cx="10987761" cy="442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51692"/>
            <a:ext cx="25835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smtClean="0"/>
              <a:t>SECTIONS:</a:t>
            </a:r>
            <a:endParaRPr lang="en-US" sz="4400"/>
          </a:p>
        </p:txBody>
      </p:sp>
      <p:sp>
        <p:nvSpPr>
          <p:cNvPr id="3" name="TextBox 2"/>
          <p:cNvSpPr txBox="1"/>
          <p:nvPr/>
        </p:nvSpPr>
        <p:spPr>
          <a:xfrm>
            <a:off x="2888392" y="849360"/>
            <a:ext cx="7754046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2800" dirty="0" smtClean="0"/>
              <a:t>Museum tour: 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Agassiz biogeography and evolution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Use of collections</a:t>
            </a:r>
            <a:endParaRPr lang="en-US" sz="2800" dirty="0"/>
          </a:p>
          <a:p>
            <a:pPr marL="742950" indent="-742950">
              <a:buFont typeface="+mj-lt"/>
              <a:buAutoNum type="arabicPeriod"/>
            </a:pPr>
            <a:r>
              <a:rPr lang="en-US" sz="2800" i="1" dirty="0" err="1" smtClean="0"/>
              <a:t>Biston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Betularia</a:t>
            </a:r>
            <a:r>
              <a:rPr lang="en-US" sz="2800" dirty="0" smtClean="0"/>
              <a:t>: 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Natural selection in action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How could we disprove this or alternatives?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Spandrels: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How should we respond as </a:t>
            </a:r>
            <a:r>
              <a:rPr lang="en-US" sz="2800" dirty="0" err="1" smtClean="0"/>
              <a:t>adaptationists</a:t>
            </a:r>
            <a:r>
              <a:rPr lang="en-US" sz="2800" dirty="0" smtClean="0"/>
              <a:t>?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What is a spandrel?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Watson: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The beauty of collaboration</a:t>
            </a:r>
          </a:p>
          <a:p>
            <a:pPr marL="1200150" lvl="1" indent="-742950">
              <a:buFont typeface="Arial" charset="0"/>
              <a:buChar char="•"/>
            </a:pPr>
            <a:r>
              <a:rPr lang="en-US" sz="2800" dirty="0" smtClean="0"/>
              <a:t>Doesn’t just take one man</a:t>
            </a:r>
            <a:endParaRPr lang="en-US" sz="2800" dirty="0" smtClean="0"/>
          </a:p>
          <a:p>
            <a:pPr marL="742950" indent="-742950">
              <a:buFont typeface="+mj-lt"/>
              <a:buAutoNum type="arabicPeriod"/>
            </a:pPr>
            <a:r>
              <a:rPr lang="en-US" sz="2800" dirty="0" smtClean="0"/>
              <a:t>Speciation and </a:t>
            </a:r>
            <a:r>
              <a:rPr lang="en-US" sz="2800" dirty="0" err="1" smtClean="0"/>
              <a:t>Vicariance</a:t>
            </a:r>
            <a:endParaRPr lang="en-US" sz="2800" dirty="0" smtClean="0"/>
          </a:p>
          <a:p>
            <a:pPr marL="1200150" lvl="1" indent="-742950">
              <a:buFont typeface="Arial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1743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00" y="368300"/>
            <a:ext cx="81026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6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38" y="1148862"/>
            <a:ext cx="11058596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0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83" y="557822"/>
            <a:ext cx="9090149" cy="55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" y="335084"/>
            <a:ext cx="12170710" cy="336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7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446" y="859691"/>
            <a:ext cx="9969740" cy="511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8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138</Words>
  <Application>Microsoft Macintosh PowerPoint</Application>
  <PresentationFormat>Widescreen</PresentationFormat>
  <Paragraphs>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Calibri Light</vt:lpstr>
      <vt:lpstr>Times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Chamberlain, Catherine</dc:creator>
  <cp:lastModifiedBy>Chamberlain, Catherine</cp:lastModifiedBy>
  <cp:revision>14</cp:revision>
  <dcterms:created xsi:type="dcterms:W3CDTF">2019-10-30T18:28:24Z</dcterms:created>
  <dcterms:modified xsi:type="dcterms:W3CDTF">2019-10-30T23:11:43Z</dcterms:modified>
</cp:coreProperties>
</file>