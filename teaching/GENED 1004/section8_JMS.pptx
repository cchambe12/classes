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07"/>
    <p:restoredTop sz="94731"/>
  </p:normalViewPr>
  <p:slideViewPr>
    <p:cSldViewPr snapToGrid="0" snapToObjects="1">
      <p:cViewPr>
        <p:scale>
          <a:sx n="138" d="100"/>
          <a:sy n="138" d="100"/>
        </p:scale>
        <p:origin x="-111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BFCF0E-C79D-A14C-A897-8AB1D58B7927}" type="datetimeFigureOut">
              <a:rPr lang="en-US" smtClean="0"/>
              <a:t>11/6/19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CAAA7-646F-2041-AA85-4569412DC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034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EDGE:</a:t>
            </a:r>
            <a:r>
              <a:rPr lang="en-US" baseline="0" dirty="0" smtClean="0"/>
              <a:t> Evolutionarily Distinct and Globally Endangered </a:t>
            </a:r>
          </a:p>
          <a:p>
            <a:r>
              <a:rPr lang="en-US" baseline="0" dirty="0" err="1" smtClean="0"/>
              <a:t>Handleys</a:t>
            </a:r>
            <a:r>
              <a:rPr lang="en-US" baseline="0" dirty="0" smtClean="0"/>
              <a:t> slender mouse opossum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01B4E6-6293-654A-BBF3-25C5CEA7570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006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2C0E-DBAD-8041-A462-0D7DFD815461}" type="datetimeFigureOut">
              <a:rPr lang="en-US" smtClean="0"/>
              <a:t>11/6/19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9728-25C0-264E-BF95-89F0145C3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79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2C0E-DBAD-8041-A462-0D7DFD815461}" type="datetimeFigureOut">
              <a:rPr lang="en-US" smtClean="0"/>
              <a:t>11/6/19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9728-25C0-264E-BF95-89F0145C3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1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2C0E-DBAD-8041-A462-0D7DFD815461}" type="datetimeFigureOut">
              <a:rPr lang="en-US" smtClean="0"/>
              <a:t>11/6/19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9728-25C0-264E-BF95-89F0145C3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90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2C0E-DBAD-8041-A462-0D7DFD815461}" type="datetimeFigureOut">
              <a:rPr lang="en-US" smtClean="0"/>
              <a:t>11/6/19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9728-25C0-264E-BF95-89F0145C3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84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2C0E-DBAD-8041-A462-0D7DFD815461}" type="datetimeFigureOut">
              <a:rPr lang="en-US" smtClean="0"/>
              <a:t>11/6/19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9728-25C0-264E-BF95-89F0145C3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20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2C0E-DBAD-8041-A462-0D7DFD815461}" type="datetimeFigureOut">
              <a:rPr lang="en-US" smtClean="0"/>
              <a:t>11/6/19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9728-25C0-264E-BF95-89F0145C3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80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2C0E-DBAD-8041-A462-0D7DFD815461}" type="datetimeFigureOut">
              <a:rPr lang="en-US" smtClean="0"/>
              <a:t>11/6/19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9728-25C0-264E-BF95-89F0145C3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4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2C0E-DBAD-8041-A462-0D7DFD815461}" type="datetimeFigureOut">
              <a:rPr lang="en-US" smtClean="0"/>
              <a:t>11/6/19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9728-25C0-264E-BF95-89F0145C3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2C0E-DBAD-8041-A462-0D7DFD815461}" type="datetimeFigureOut">
              <a:rPr lang="en-US" smtClean="0"/>
              <a:t>11/6/19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9728-25C0-264E-BF95-89F0145C3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753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2C0E-DBAD-8041-A462-0D7DFD815461}" type="datetimeFigureOut">
              <a:rPr lang="en-US" smtClean="0"/>
              <a:t>11/6/19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9728-25C0-264E-BF95-89F0145C3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44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2C0E-DBAD-8041-A462-0D7DFD815461}" type="datetimeFigureOut">
              <a:rPr lang="en-US" smtClean="0"/>
              <a:t>11/6/19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9728-25C0-264E-BF95-89F0145C3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2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F2C0E-DBAD-8041-A462-0D7DFD815461}" type="datetimeFigureOut">
              <a:rPr lang="en-US" smtClean="0"/>
              <a:t>11/6/19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B9728-25C0-264E-BF95-89F0145C3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0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4" Type="http://schemas.openxmlformats.org/officeDocument/2006/relationships/image" Target="../media/image4.tiff"/><Relationship Id="rId5" Type="http://schemas.openxmlformats.org/officeDocument/2006/relationships/image" Target="../media/image5.tiff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900" y="0"/>
            <a:ext cx="97231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367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0"/>
            <a:ext cx="96478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47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3566160" y="2560319"/>
            <a:ext cx="2599509" cy="3017520"/>
          </a:xfrm>
          <a:prstGeom prst="line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6165669" y="2443115"/>
            <a:ext cx="2834640" cy="3141258"/>
          </a:xfrm>
          <a:prstGeom prst="line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 flipV="1">
            <a:off x="6638747" y="2443115"/>
            <a:ext cx="1172842" cy="1305926"/>
          </a:xfrm>
          <a:prstGeom prst="line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96727" y="1149892"/>
            <a:ext cx="1938865" cy="129322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98526" y="1240970"/>
            <a:ext cx="2102970" cy="111106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6576" y="1190565"/>
            <a:ext cx="1601098" cy="116147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0" y="104503"/>
            <a:ext cx="8205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tx2">
                    <a:lumMod val="50000"/>
                  </a:schemeClr>
                </a:solidFill>
              </a:rPr>
              <a:t>Evolutionarily Distinct: (</a:t>
            </a:r>
            <a:r>
              <a:rPr lang="en-US" sz="2400" b="1" smtClean="0">
                <a:solidFill>
                  <a:schemeClr val="tx2">
                    <a:lumMod val="50000"/>
                  </a:schemeClr>
                </a:solidFill>
              </a:rPr>
              <a:t>kind of) New </a:t>
            </a:r>
            <a:r>
              <a:rPr lang="en-US" sz="2400" b="1" dirty="0" smtClean="0">
                <a:solidFill>
                  <a:schemeClr val="tx2">
                    <a:lumMod val="50000"/>
                  </a:schemeClr>
                </a:solidFill>
              </a:rPr>
              <a:t>approach to conservation</a:t>
            </a:r>
            <a:endParaRPr lang="en-US" sz="2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482792" y="11498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$5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843633" y="1394906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smtClean="0">
                <a:solidFill>
                  <a:srgbClr val="C00000"/>
                </a:solidFill>
              </a:rPr>
              <a:t>???</a:t>
            </a:r>
            <a:endParaRPr lang="en-US" sz="24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148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0"/>
            <a:ext cx="63975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38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9862" y="239843"/>
            <a:ext cx="19623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smtClean="0"/>
              <a:t>KEY TERMS:</a:t>
            </a:r>
            <a:endParaRPr lang="en-US" sz="2800" b="1"/>
          </a:p>
        </p:txBody>
      </p:sp>
      <p:sp>
        <p:nvSpPr>
          <p:cNvPr id="3" name="TextBox 2"/>
          <p:cNvSpPr txBox="1"/>
          <p:nvPr/>
        </p:nvSpPr>
        <p:spPr>
          <a:xfrm>
            <a:off x="1191060" y="1918741"/>
            <a:ext cx="8733288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800" dirty="0" smtClean="0">
                <a:solidFill>
                  <a:schemeClr val="accent1"/>
                </a:solidFill>
              </a:rPr>
              <a:t>Ancestral: </a:t>
            </a:r>
            <a:r>
              <a:rPr lang="en-US" sz="2800" dirty="0" smtClean="0"/>
              <a:t>original trait also known as 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</a:rPr>
              <a:t>PLEISIOMORPHIES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SYN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</a:rPr>
              <a:t>PLEISIOMORPHIES</a:t>
            </a:r>
            <a:r>
              <a:rPr lang="en-US" sz="2800" dirty="0" smtClean="0"/>
              <a:t>: shared ancestral characters</a:t>
            </a:r>
          </a:p>
          <a:p>
            <a:pPr marL="742950" lvl="1" indent="-285750">
              <a:buFont typeface="Arial" charset="0"/>
              <a:buChar char="•"/>
            </a:pPr>
            <a:endParaRPr lang="en-US" sz="2800" dirty="0"/>
          </a:p>
          <a:p>
            <a:pPr marL="742950" lvl="1" indent="-285750">
              <a:buFont typeface="Arial" charset="0"/>
              <a:buChar char="•"/>
            </a:pPr>
            <a:endParaRPr lang="en-US" sz="2800" dirty="0" smtClean="0"/>
          </a:p>
          <a:p>
            <a:pPr marL="285750" indent="-285750">
              <a:buFont typeface="Arial" charset="0"/>
              <a:buChar char="•"/>
            </a:pPr>
            <a:endParaRPr lang="en-US" sz="2800" dirty="0"/>
          </a:p>
          <a:p>
            <a:pPr marL="285750" indent="-285750">
              <a:buFont typeface="Arial" charset="0"/>
              <a:buChar char="•"/>
            </a:pPr>
            <a:r>
              <a:rPr lang="en-US" sz="2800" dirty="0" smtClean="0">
                <a:solidFill>
                  <a:srgbClr val="C00000"/>
                </a:solidFill>
              </a:rPr>
              <a:t>Derived</a:t>
            </a:r>
            <a:r>
              <a:rPr lang="en-US" sz="2800" dirty="0" smtClean="0"/>
              <a:t>: innovations also known as </a:t>
            </a:r>
            <a:r>
              <a:rPr lang="en-US" sz="2800" b="1" dirty="0" smtClean="0">
                <a:solidFill>
                  <a:srgbClr val="C00000"/>
                </a:solidFill>
              </a:rPr>
              <a:t>APOMORPHIES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3200" b="1" dirty="0" smtClean="0">
                <a:solidFill>
                  <a:srgbClr val="C00000"/>
                </a:solidFill>
              </a:rPr>
              <a:t>SYN</a:t>
            </a:r>
            <a:r>
              <a:rPr lang="en-US" sz="2800" b="1" dirty="0" smtClean="0">
                <a:solidFill>
                  <a:srgbClr val="C00000"/>
                </a:solidFill>
              </a:rPr>
              <a:t>APOMORPHIES: </a:t>
            </a:r>
            <a:r>
              <a:rPr lang="en-US" sz="2800" dirty="0" smtClean="0"/>
              <a:t>shared derived characters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55893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" y="0"/>
            <a:ext cx="10058400" cy="637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58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" y="1879600"/>
            <a:ext cx="10058400" cy="301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712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1536700"/>
            <a:ext cx="4864100" cy="378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119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300" y="558800"/>
            <a:ext cx="6108700" cy="57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268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800" y="1803400"/>
            <a:ext cx="95504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431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54</Words>
  <Application>Microsoft Macintosh PowerPoint</Application>
  <PresentationFormat>Widescreen</PresentationFormat>
  <Paragraphs>14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Chamberlain, Catherine</dc:creator>
  <cp:lastModifiedBy>Chamberlain, Catherine</cp:lastModifiedBy>
  <cp:revision>6</cp:revision>
  <dcterms:created xsi:type="dcterms:W3CDTF">2019-11-06T21:16:16Z</dcterms:created>
  <dcterms:modified xsi:type="dcterms:W3CDTF">2019-11-07T01:30:33Z</dcterms:modified>
</cp:coreProperties>
</file>